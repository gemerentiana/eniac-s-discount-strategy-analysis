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19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embeddedFontLs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Light" panose="020B0604020202020204" charset="0"/>
      <p:regular r:id="rId24"/>
      <p:bold r:id="rId25"/>
      <p:italic r:id="rId26"/>
      <p:boldItalic r:id="rId27"/>
    </p:embeddedFont>
    <p:embeddedFont>
      <p:font typeface="Merriweather" panose="00000500000000000000" pitchFamily="2" charset="0"/>
      <p:regular r:id="rId28"/>
      <p:bold r:id="rId29"/>
      <p:italic r:id="rId30"/>
      <p:boldItalic r:id="rId31"/>
    </p:embeddedFont>
    <p:embeddedFont>
      <p:font typeface="Roboto" panose="02000000000000000000" pitchFamily="2" charset="0"/>
      <p:regular r:id="rId32"/>
      <p:bold r:id="rId33"/>
      <p:italic r:id="rId34"/>
      <p:boldItalic r:id="rId35"/>
    </p:embeddedFont>
    <p:embeddedFont>
      <p:font typeface="Roboto Light" panose="020000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AENS9+G7f7Uzk6tNl0sgruuQr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13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5f4e251c7_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g3f5f4e251c7_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f5f4e251c7_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7" name="Google Shape;207;g3f5f4e251c7_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5ef696323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5ef696323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5ee5fc38d_4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0" name="Google Shape;220;g3f5ee5fc38d_4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5f4e251c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g3f5f4e251c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5f4e251c7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g3f5f4e251c7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f4e251c7_2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6" name="Google Shape;236;g3f5f4e251c7_2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5f4e251c7_2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g3f5f4e251c7_2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5f7b0e24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g3f5f7b0e24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5ef69632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5ef69632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5ee5fc38d_4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g3f5ee5fc38d_4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5f7b0e24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3f5f7b0e24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5f7b0e249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g3f5f7b0e249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453626d0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g3f453626d0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5aa334ede_0_1655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g3f5aa334ede_0_1655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g3f5aa334ede_0_1655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g3f5aa334ede_0_16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3f5aa334ede_0_1660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g3f5aa334ede_0_1660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g3f5aa334ede_0_1660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g3f5aa334ede_0_16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aa334ede_0_1665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g3f5aa334ede_0_1665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g3f5aa334ede_0_1665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g3f5aa334ede_0_166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g3f5aa334ede_0_166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g3f5aa334ede_0_16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5aa334ede_0_1672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g3f5aa334ede_0_167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g3f5aa334ede_0_1672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g3f5aa334ede_0_1672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g3f5aa334ede_0_167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5aa334ede_0_1678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g3f5aa334ede_0_167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g3f5aa334ede_0_16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5aa334ede_0_1682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g3f5aa334ede_0_168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g3f5aa334ede_0_1682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g3f5aa334ede_0_168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f5aa334ede_0_1687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g3f5aa334ede_0_168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5aa334ede_0_169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g3f5aa334ede_0_1690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g3f5aa334ede_0_1690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g3f5aa334ede_0_1690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g3f5aa334ede_0_169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aa334ede_0_1696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g3f5aa334ede_0_1696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g3f5aa334ede_0_169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aa334ede_0_1700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g3f5aa334ede_0_1700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g3f5aa334ede_0_17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aa334ede_0_170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7_1_1_1_1_1_1_1_1_1_1_1_1_1_1_1_1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5aa334ede_0_1706"/>
          <p:cNvSpPr>
            <a:spLocks noGrp="1"/>
          </p:cNvSpPr>
          <p:nvPr>
            <p:ph type="pic" idx="2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LID4096"/>
          </a:p>
        </p:txBody>
      </p:sp>
      <p:sp>
        <p:nvSpPr>
          <p:cNvPr id="62" name="Google Shape;62;g3f5aa334ede_0_1706"/>
          <p:cNvSpPr txBox="1">
            <a:spLocks noGrp="1"/>
          </p:cNvSpPr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g3f5aa334ede_0_1706"/>
          <p:cNvSpPr txBox="1">
            <a:spLocks noGrp="1"/>
          </p:cNvSpPr>
          <p:nvPr>
            <p:ph type="subTitle" idx="1"/>
          </p:nvPr>
        </p:nvSpPr>
        <p:spPr>
          <a:xfrm>
            <a:off x="361975" y="255533"/>
            <a:ext cx="3860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g3f5aa334ede_0_1706"/>
          <p:cNvSpPr txBox="1">
            <a:spLocks noGrp="1"/>
          </p:cNvSpPr>
          <p:nvPr>
            <p:ph type="body" idx="3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only">
  <p:cSld name="BLANK_1_1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aa334ede_0_1711"/>
          <p:cNvSpPr txBox="1">
            <a:spLocks noGrp="1"/>
          </p:cNvSpPr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3f5aa334ede_0_1711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g3f5aa334ede_0_1711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USTOM_7_1_1_1_1_1_1_1_1_1_1_1_1_1_1_1_1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5ee5fc38d_4_4"/>
          <p:cNvSpPr>
            <a:spLocks noGrp="1"/>
          </p:cNvSpPr>
          <p:nvPr>
            <p:ph type="pic" idx="2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g3f5ee5fc38d_4_4"/>
          <p:cNvSpPr txBox="1">
            <a:spLocks noGrp="1"/>
          </p:cNvSpPr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g3f5ee5fc38d_4_4"/>
          <p:cNvSpPr txBox="1">
            <a:spLocks noGrp="1"/>
          </p:cNvSpPr>
          <p:nvPr>
            <p:ph type="subTitle" idx="1"/>
          </p:nvPr>
        </p:nvSpPr>
        <p:spPr>
          <a:xfrm>
            <a:off x="361975" y="255533"/>
            <a:ext cx="3860100" cy="3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g3f5ee5fc38d_4_4"/>
          <p:cNvSpPr txBox="1">
            <a:spLocks noGrp="1"/>
          </p:cNvSpPr>
          <p:nvPr>
            <p:ph type="body" idx="3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marL="914400" lvl="1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marL="1371600" lvl="2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marL="1828800" lvl="3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marL="2286000" lvl="4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marL="2743200" lvl="5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marL="3200400" lvl="6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marL="3657600" lvl="7" indent="-29210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marL="4114800" lvl="8" indent="-292100" algn="ctr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only">
  <p:cSld name="BLANK_1_1_1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5ee5fc38d_4_9"/>
          <p:cNvSpPr txBox="1">
            <a:spLocks noGrp="1"/>
          </p:cNvSpPr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g3f5ee5fc38d_4_9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g3f5ee5fc38d_4_9"/>
          <p:cNvSpPr txBox="1">
            <a:spLocks noGrp="1"/>
          </p:cNvSpPr>
          <p:nvPr>
            <p:ph type="subTitle" idx="1"/>
          </p:nvPr>
        </p:nvSpPr>
        <p:spPr>
          <a:xfrm>
            <a:off x="361975" y="217725"/>
            <a:ext cx="41631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ee5fc38d_4_13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4" name="Google Shape;84;g3f5ee5fc38d_4_13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5" name="Google Shape;85;g3f5ee5fc38d_4_13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g3f5ee5fc38d_4_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5ee5fc38d_4_18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9" name="Google Shape;89;g3f5ee5fc38d_4_18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90" name="Google Shape;90;g3f5ee5fc38d_4_18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" name="Google Shape;91;g3f5ee5fc38d_4_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5ee5fc38d_4_23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5ee5fc38d_4_23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95" name="Google Shape;95;g3f5ee5fc38d_4_23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96" name="Google Shape;96;g3f5ee5fc38d_4_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g3f5ee5fc38d_4_23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g3f5ee5fc38d_4_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5ee5fc38d_4_30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5ee5fc38d_4_3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g3f5ee5fc38d_4_30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3" name="Google Shape;103;g3f5ee5fc38d_4_30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04" name="Google Shape;104;g3f5ee5fc38d_4_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f5ee5fc38d_4_3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5ee5fc38d_4_3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g3f5ee5fc38d_4_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5ee5fc38d_4_40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5ee5fc38d_4_4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g3f5ee5fc38d_4_40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g3f5ee5fc38d_4_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5ee5fc38d_4_45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6" name="Google Shape;116;g3f5ee5fc38d_4_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5ee5fc38d_4_4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5ee5fc38d_4_48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g3f5ee5fc38d_4_48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g3f5ee5fc38d_4_48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g3f5ee5fc38d_4_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ee5fc38d_4_54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5ee5fc38d_4_54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126" name="Google Shape;126;g3f5ee5fc38d_4_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5ee5fc38d_4_58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9" name="Google Shape;129;g3f5ee5fc38d_4_58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g3f5ee5fc38d_4_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5ee5fc38d_4_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5aa334ede_0_16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g3f5aa334ede_0_16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g3f5aa334ede_0_16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5ee5fc38d_4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 b="0" i="0" u="none" strike="noStrike" cap="non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1" name="Google Shape;71;g3f5ee5fc38d_4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2" name="Google Shape;72;g3f5ee5fc38d_4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" descr="A close-up of a modern glass structure. "/>
          <p:cNvPicPr preferRelativeResize="0"/>
          <p:nvPr/>
        </p:nvPicPr>
        <p:blipFill rotWithShape="1">
          <a:blip r:embed="rId3">
            <a:alphaModFix/>
          </a:blip>
          <a:srcRect l="21737" r="19116" b="8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"/>
          <p:cNvSpPr txBox="1">
            <a:spLocks noGrp="1"/>
          </p:cNvSpPr>
          <p:nvPr>
            <p:ph type="title"/>
          </p:nvPr>
        </p:nvSpPr>
        <p:spPr>
          <a:xfrm>
            <a:off x="361975" y="923525"/>
            <a:ext cx="4019400" cy="13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ct val="79365"/>
              <a:buNone/>
            </a:pPr>
            <a:r>
              <a:rPr lang="en"/>
              <a:t>Analysis of Eniac’s Discount Strategy</a:t>
            </a:r>
            <a:endParaRPr/>
          </a:p>
        </p:txBody>
      </p:sp>
      <p:sp>
        <p:nvSpPr>
          <p:cNvPr id="139" name="Google Shape;139;p1"/>
          <p:cNvSpPr txBox="1">
            <a:spLocks noGrp="1"/>
          </p:cNvSpPr>
          <p:nvPr>
            <p:ph type="body" idx="3"/>
          </p:nvPr>
        </p:nvSpPr>
        <p:spPr>
          <a:xfrm>
            <a:off x="631350" y="4325776"/>
            <a:ext cx="3396900" cy="361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dirty="0"/>
              <a:t>Gracia Emerentiana [</a:t>
            </a:r>
            <a:r>
              <a:rPr lang="en"/>
              <a:t>E-DA-55]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"/>
          <p:cNvSpPr txBox="1">
            <a:spLocks noGrp="1"/>
          </p:cNvSpPr>
          <p:nvPr>
            <p:ph type="sldNum" idx="12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45" name="Google Shape;145;p2"/>
          <p:cNvSpPr txBox="1">
            <a:spLocks noGrp="1"/>
          </p:cNvSpPr>
          <p:nvPr>
            <p:ph type="title"/>
          </p:nvPr>
        </p:nvSpPr>
        <p:spPr>
          <a:xfrm>
            <a:off x="1806525" y="709238"/>
            <a:ext cx="5627400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Eniac’s Debate</a:t>
            </a:r>
            <a:endParaRPr/>
          </a:p>
        </p:txBody>
      </p:sp>
      <p:grpSp>
        <p:nvGrpSpPr>
          <p:cNvPr id="146" name="Google Shape;146;p2"/>
          <p:cNvGrpSpPr/>
          <p:nvPr/>
        </p:nvGrpSpPr>
        <p:grpSpPr>
          <a:xfrm>
            <a:off x="1457900" y="1421025"/>
            <a:ext cx="5843983" cy="3105604"/>
            <a:chOff x="1104867" y="1018960"/>
            <a:chExt cx="5843983" cy="3105604"/>
          </a:xfrm>
        </p:grpSpPr>
        <p:cxnSp>
          <p:nvCxnSpPr>
            <p:cNvPr id="147" name="Google Shape;147;p2"/>
            <p:cNvCxnSpPr>
              <a:stCxn id="148" idx="6"/>
              <a:endCxn id="149" idx="2"/>
            </p:cNvCxnSpPr>
            <p:nvPr/>
          </p:nvCxnSpPr>
          <p:spPr>
            <a:xfrm>
              <a:off x="2947825" y="2571750"/>
              <a:ext cx="702300" cy="936000"/>
            </a:xfrm>
            <a:prstGeom prst="bentConnector3">
              <a:avLst>
                <a:gd name="adj1" fmla="val 49995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0" name="Google Shape;150;p2"/>
            <p:cNvCxnSpPr>
              <a:stCxn id="148" idx="6"/>
              <a:endCxn id="151" idx="2"/>
            </p:cNvCxnSpPr>
            <p:nvPr/>
          </p:nvCxnSpPr>
          <p:spPr>
            <a:xfrm rot="10800000" flipH="1">
              <a:off x="2947825" y="1635750"/>
              <a:ext cx="702300" cy="936000"/>
            </a:xfrm>
            <a:prstGeom prst="bentConnector3">
              <a:avLst>
                <a:gd name="adj1" fmla="val 49995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2" name="Google Shape;152;p2"/>
            <p:cNvCxnSpPr>
              <a:stCxn id="153" idx="3"/>
              <a:endCxn id="154" idx="2"/>
            </p:cNvCxnSpPr>
            <p:nvPr/>
          </p:nvCxnSpPr>
          <p:spPr>
            <a:xfrm rot="10800000" flipH="1">
              <a:off x="5006350" y="1178550"/>
              <a:ext cx="586200" cy="4572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5" name="Google Shape;155;p2"/>
            <p:cNvCxnSpPr>
              <a:stCxn id="153" idx="3"/>
              <a:endCxn id="156" idx="2"/>
            </p:cNvCxnSpPr>
            <p:nvPr/>
          </p:nvCxnSpPr>
          <p:spPr>
            <a:xfrm>
              <a:off x="5006350" y="1635750"/>
              <a:ext cx="586200" cy="4425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57" name="Google Shape;157;p2"/>
            <p:cNvCxnSpPr>
              <a:stCxn id="158" idx="3"/>
              <a:endCxn id="159" idx="2"/>
            </p:cNvCxnSpPr>
            <p:nvPr/>
          </p:nvCxnSpPr>
          <p:spPr>
            <a:xfrm rot="10800000" flipH="1">
              <a:off x="5006350" y="3050550"/>
              <a:ext cx="586200" cy="4572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0" name="Google Shape;160;p2"/>
            <p:cNvCxnSpPr>
              <a:stCxn id="158" idx="3"/>
              <a:endCxn id="161" idx="2"/>
            </p:cNvCxnSpPr>
            <p:nvPr/>
          </p:nvCxnSpPr>
          <p:spPr>
            <a:xfrm>
              <a:off x="5006350" y="3507750"/>
              <a:ext cx="586200" cy="4572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C2C2C2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62" name="Google Shape;162;p2"/>
            <p:cNvGrpSpPr/>
            <p:nvPr/>
          </p:nvGrpSpPr>
          <p:grpSpPr>
            <a:xfrm>
              <a:off x="5592550" y="1018960"/>
              <a:ext cx="1356292" cy="442500"/>
              <a:chOff x="5592550" y="1018960"/>
              <a:chExt cx="1356292" cy="442500"/>
            </a:xfrm>
          </p:grpSpPr>
          <p:sp>
            <p:nvSpPr>
              <p:cNvPr id="163" name="Google Shape;163;p2"/>
              <p:cNvSpPr/>
              <p:nvPr/>
            </p:nvSpPr>
            <p:spPr>
              <a:xfrm>
                <a:off x="5766542" y="1018960"/>
                <a:ext cx="1182300" cy="4425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292929"/>
                    </a:solidFill>
                    <a:highlight>
                      <a:srgbClr val="FFFFFF"/>
                    </a:highlight>
                  </a:rPr>
                  <a:t>Improve customer acquisition, satisfaction and retention</a:t>
                </a:r>
                <a:r>
                  <a:rPr lang="en" sz="600"/>
                  <a:t> </a:t>
                </a:r>
                <a:endParaRPr sz="6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5592550" y="1091550"/>
                <a:ext cx="174000" cy="174000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4" name="Google Shape;164;p2"/>
            <p:cNvGrpSpPr/>
            <p:nvPr/>
          </p:nvGrpSpPr>
          <p:grpSpPr>
            <a:xfrm>
              <a:off x="3650050" y="1476150"/>
              <a:ext cx="1356300" cy="319200"/>
              <a:chOff x="3650050" y="1476150"/>
              <a:chExt cx="1356300" cy="319200"/>
            </a:xfrm>
          </p:grpSpPr>
          <p:sp>
            <p:nvSpPr>
              <p:cNvPr id="153" name="Google Shape;153;p2"/>
              <p:cNvSpPr/>
              <p:nvPr/>
            </p:nvSpPr>
            <p:spPr>
              <a:xfrm>
                <a:off x="3824050" y="1476150"/>
                <a:ext cx="1182300" cy="3192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38761D"/>
                    </a:solidFill>
                    <a:latin typeface="Roboto"/>
                    <a:ea typeface="Roboto"/>
                    <a:cs typeface="Roboto"/>
                    <a:sym typeface="Roboto"/>
                  </a:rPr>
                  <a:t>Yes</a:t>
                </a:r>
                <a:endParaRPr sz="1100" b="1">
                  <a:solidFill>
                    <a:srgbClr val="38761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3650050" y="1548750"/>
                <a:ext cx="174000" cy="174000"/>
              </a:xfrm>
              <a:prstGeom prst="ellipse">
                <a:avLst/>
              </a:prstGeom>
              <a:solidFill>
                <a:srgbClr val="4141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2"/>
            <p:cNvGrpSpPr/>
            <p:nvPr/>
          </p:nvGrpSpPr>
          <p:grpSpPr>
            <a:xfrm>
              <a:off x="1104867" y="2412159"/>
              <a:ext cx="1842958" cy="319200"/>
              <a:chOff x="1116067" y="2412159"/>
              <a:chExt cx="1842958" cy="319200"/>
            </a:xfrm>
          </p:grpSpPr>
          <p:sp>
            <p:nvSpPr>
              <p:cNvPr id="166" name="Google Shape;166;p2"/>
              <p:cNvSpPr/>
              <p:nvPr/>
            </p:nvSpPr>
            <p:spPr>
              <a:xfrm>
                <a:off x="1116067" y="2412159"/>
                <a:ext cx="1662900" cy="3192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300" b="1">
                    <a:solidFill>
                      <a:srgbClr val="3D3D3D"/>
                    </a:solidFill>
                    <a:latin typeface="Roboto"/>
                    <a:ea typeface="Roboto"/>
                    <a:cs typeface="Roboto"/>
                    <a:sym typeface="Roboto"/>
                  </a:rPr>
                  <a:t>Discount Strategy</a:t>
                </a:r>
                <a:endParaRPr sz="1300" b="1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2785025" y="2484750"/>
                <a:ext cx="174000" cy="174000"/>
              </a:xfrm>
              <a:prstGeom prst="ellipse">
                <a:avLst/>
              </a:prstGeom>
              <a:solidFill>
                <a:srgbClr val="2F2F2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" name="Google Shape;167;p2"/>
            <p:cNvGrpSpPr/>
            <p:nvPr/>
          </p:nvGrpSpPr>
          <p:grpSpPr>
            <a:xfrm>
              <a:off x="3650050" y="3348150"/>
              <a:ext cx="1356300" cy="319200"/>
              <a:chOff x="3650050" y="3348150"/>
              <a:chExt cx="1356300" cy="319200"/>
            </a:xfrm>
          </p:grpSpPr>
          <p:sp>
            <p:nvSpPr>
              <p:cNvPr id="158" name="Google Shape;158;p2"/>
              <p:cNvSpPr/>
              <p:nvPr/>
            </p:nvSpPr>
            <p:spPr>
              <a:xfrm>
                <a:off x="3824050" y="3348150"/>
                <a:ext cx="1182300" cy="3192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100" b="1">
                    <a:solidFill>
                      <a:srgbClr val="990000"/>
                    </a:solidFill>
                    <a:latin typeface="Roboto"/>
                    <a:ea typeface="Roboto"/>
                    <a:cs typeface="Roboto"/>
                    <a:sym typeface="Roboto"/>
                  </a:rPr>
                  <a:t>No</a:t>
                </a:r>
                <a:endParaRPr sz="1100" b="1">
                  <a:solidFill>
                    <a:srgbClr val="99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3650050" y="3420750"/>
                <a:ext cx="174000" cy="174000"/>
              </a:xfrm>
              <a:prstGeom prst="ellipse">
                <a:avLst/>
              </a:prstGeom>
              <a:solidFill>
                <a:srgbClr val="41414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2"/>
            <p:cNvGrpSpPr/>
            <p:nvPr/>
          </p:nvGrpSpPr>
          <p:grpSpPr>
            <a:xfrm>
              <a:off x="5592550" y="1933350"/>
              <a:ext cx="1356300" cy="319200"/>
              <a:chOff x="5592550" y="1933350"/>
              <a:chExt cx="1356300" cy="319200"/>
            </a:xfrm>
          </p:grpSpPr>
          <p:sp>
            <p:nvSpPr>
              <p:cNvPr id="169" name="Google Shape;169;p2"/>
              <p:cNvSpPr/>
              <p:nvPr/>
            </p:nvSpPr>
            <p:spPr>
              <a:xfrm>
                <a:off x="5766550" y="1933350"/>
                <a:ext cx="1182300" cy="3192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292929"/>
                    </a:solidFill>
                    <a:highlight>
                      <a:srgbClr val="FFFFFF"/>
                    </a:highlight>
                  </a:rPr>
                  <a:t>allow the company to grow</a:t>
                </a:r>
                <a:endParaRPr sz="3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6" name="Google Shape;156;p2"/>
              <p:cNvSpPr/>
              <p:nvPr/>
            </p:nvSpPr>
            <p:spPr>
              <a:xfrm>
                <a:off x="5592550" y="1991250"/>
                <a:ext cx="174000" cy="174000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0" name="Google Shape;170;p2"/>
            <p:cNvGrpSpPr/>
            <p:nvPr/>
          </p:nvGrpSpPr>
          <p:grpSpPr>
            <a:xfrm>
              <a:off x="5592550" y="2890950"/>
              <a:ext cx="1356300" cy="319200"/>
              <a:chOff x="5592550" y="2890950"/>
              <a:chExt cx="1356300" cy="319200"/>
            </a:xfrm>
          </p:grpSpPr>
          <p:sp>
            <p:nvSpPr>
              <p:cNvPr id="171" name="Google Shape;171;p2"/>
              <p:cNvSpPr/>
              <p:nvPr/>
            </p:nvSpPr>
            <p:spPr>
              <a:xfrm>
                <a:off x="5766550" y="2890950"/>
                <a:ext cx="1182300" cy="3192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292929"/>
                    </a:solidFill>
                    <a:highlight>
                      <a:srgbClr val="FFFFFF"/>
                    </a:highlight>
                  </a:rPr>
                  <a:t>increase in orders placed, but a decrease in the total revenue</a:t>
                </a:r>
                <a:r>
                  <a:rPr lang="en" sz="600"/>
                  <a:t> </a:t>
                </a:r>
                <a:endParaRPr sz="1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5592550" y="2963550"/>
                <a:ext cx="174000" cy="174000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" name="Google Shape;172;p2"/>
            <p:cNvGrpSpPr/>
            <p:nvPr/>
          </p:nvGrpSpPr>
          <p:grpSpPr>
            <a:xfrm>
              <a:off x="5592550" y="3682063"/>
              <a:ext cx="1356292" cy="442500"/>
              <a:chOff x="5592550" y="3682063"/>
              <a:chExt cx="1356292" cy="442500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5766542" y="3682063"/>
                <a:ext cx="1182300" cy="442500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0">
                    <a:solidFill>
                      <a:srgbClr val="292929"/>
                    </a:solidFill>
                    <a:highlight>
                      <a:srgbClr val="FFFFFF"/>
                    </a:highlight>
                  </a:rPr>
                  <a:t>Prefer the quality segment than competing to offer the lowest price</a:t>
                </a:r>
                <a:r>
                  <a:rPr lang="en" sz="600"/>
                  <a:t> </a:t>
                </a:r>
                <a:endParaRPr sz="600">
                  <a:solidFill>
                    <a:srgbClr val="3D3D3D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592550" y="3877950"/>
                <a:ext cx="174000" cy="174000"/>
              </a:xfrm>
              <a:prstGeom prst="ellipse">
                <a:avLst/>
              </a:prstGeom>
              <a:solidFill>
                <a:srgbClr val="50505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4" name="Google Shape;174;p2"/>
          <p:cNvSpPr/>
          <p:nvPr/>
        </p:nvSpPr>
        <p:spPr>
          <a:xfrm>
            <a:off x="2780025" y="2515000"/>
            <a:ext cx="899100" cy="319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Beneficial?</a:t>
            </a:r>
            <a:endParaRPr sz="1100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4790750" y="1676950"/>
            <a:ext cx="899100" cy="319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Marketing Team Lead</a:t>
            </a:r>
            <a:endParaRPr sz="700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4790750" y="3991675"/>
            <a:ext cx="899100" cy="319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Main Investors in the Board</a:t>
            </a:r>
            <a:endParaRPr sz="700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" name="Google Shape;177;p2"/>
          <p:cNvSpPr/>
          <p:nvPr/>
        </p:nvSpPr>
        <p:spPr>
          <a:xfrm>
            <a:off x="4790750" y="2814225"/>
            <a:ext cx="1662900" cy="319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3D3D3D"/>
                </a:solidFill>
                <a:latin typeface="Roboto"/>
                <a:ea typeface="Roboto"/>
                <a:cs typeface="Roboto"/>
                <a:sym typeface="Roboto"/>
              </a:rPr>
              <a:t>Hypothesis</a:t>
            </a:r>
            <a:endParaRPr sz="1300" b="1">
              <a:solidFill>
                <a:srgbClr val="3D3D3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5f4e251c7_8_0"/>
          <p:cNvSpPr txBox="1">
            <a:spLocks noGrp="1"/>
          </p:cNvSpPr>
          <p:nvPr>
            <p:ph type="title"/>
          </p:nvPr>
        </p:nvSpPr>
        <p:spPr>
          <a:xfrm>
            <a:off x="1871076" y="711310"/>
            <a:ext cx="5627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Discounts’ Analysis</a:t>
            </a:r>
            <a:endParaRPr/>
          </a:p>
        </p:txBody>
      </p:sp>
      <p:grpSp>
        <p:nvGrpSpPr>
          <p:cNvPr id="183" name="Google Shape;183;g3f5f4e251c7_8_0"/>
          <p:cNvGrpSpPr/>
          <p:nvPr/>
        </p:nvGrpSpPr>
        <p:grpSpPr>
          <a:xfrm>
            <a:off x="862365" y="1599754"/>
            <a:ext cx="4043746" cy="1556083"/>
            <a:chOff x="563850" y="2096900"/>
            <a:chExt cx="4055100" cy="1524675"/>
          </a:xfrm>
        </p:grpSpPr>
        <p:sp>
          <p:nvSpPr>
            <p:cNvPr id="184" name="Google Shape;184;g3f5f4e251c7_8_0"/>
            <p:cNvSpPr txBox="1"/>
            <p:nvPr/>
          </p:nvSpPr>
          <p:spPr>
            <a:xfrm>
              <a:off x="563850" y="2327900"/>
              <a:ext cx="4055100" cy="58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000"/>
                <a:buFont typeface="Merriweather"/>
                <a:buNone/>
              </a:pPr>
              <a:r>
                <a:rPr lang="en" sz="4500" b="0" i="0" u="none" strike="noStrike" cap="none">
                  <a:solidFill>
                    <a:srgbClr val="FFC000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96%</a:t>
              </a:r>
              <a:endParaRPr/>
            </a:p>
          </p:txBody>
        </p:sp>
        <p:sp>
          <p:nvSpPr>
            <p:cNvPr id="185" name="Google Shape;185;g3f5f4e251c7_8_0"/>
            <p:cNvSpPr txBox="1"/>
            <p:nvPr/>
          </p:nvSpPr>
          <p:spPr>
            <a:xfrm>
              <a:off x="563850" y="2096900"/>
              <a:ext cx="4055100" cy="22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about</a:t>
              </a:r>
              <a:endParaRPr/>
            </a:p>
          </p:txBody>
        </p:sp>
        <p:sp>
          <p:nvSpPr>
            <p:cNvPr id="186" name="Google Shape;186;g3f5f4e251c7_8_0"/>
            <p:cNvSpPr txBox="1"/>
            <p:nvPr/>
          </p:nvSpPr>
          <p:spPr>
            <a:xfrm>
              <a:off x="563850" y="3135275"/>
              <a:ext cx="4055100" cy="48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of Eniac’s products</a:t>
              </a:r>
              <a:endParaRPr/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are discounted</a:t>
              </a:r>
              <a:endParaRPr/>
            </a:p>
          </p:txBody>
        </p:sp>
      </p:grpSp>
      <p:grpSp>
        <p:nvGrpSpPr>
          <p:cNvPr id="187" name="Google Shape;187;g3f5f4e251c7_8_0"/>
          <p:cNvGrpSpPr/>
          <p:nvPr/>
        </p:nvGrpSpPr>
        <p:grpSpPr>
          <a:xfrm>
            <a:off x="4863858" y="1587253"/>
            <a:ext cx="2725027" cy="821972"/>
            <a:chOff x="3901238" y="2386809"/>
            <a:chExt cx="4055100" cy="925853"/>
          </a:xfrm>
        </p:grpSpPr>
        <p:sp>
          <p:nvSpPr>
            <p:cNvPr id="188" name="Google Shape;188;g3f5f4e251c7_8_0"/>
            <p:cNvSpPr txBox="1"/>
            <p:nvPr/>
          </p:nvSpPr>
          <p:spPr>
            <a:xfrm>
              <a:off x="3901238" y="2706208"/>
              <a:ext cx="4055100" cy="6064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000"/>
                <a:buFont typeface="Merriweather"/>
                <a:buNone/>
              </a:pPr>
              <a:r>
                <a:rPr lang="en" sz="2800" b="0" i="0" u="none" strike="noStrike" cap="none">
                  <a:solidFill>
                    <a:schemeClr val="accent4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98%</a:t>
              </a:r>
              <a:endParaRPr/>
            </a:p>
          </p:txBody>
        </p:sp>
        <p:sp>
          <p:nvSpPr>
            <p:cNvPr id="189" name="Google Shape;189;g3f5f4e251c7_8_0"/>
            <p:cNvSpPr txBox="1"/>
            <p:nvPr/>
          </p:nvSpPr>
          <p:spPr>
            <a:xfrm>
              <a:off x="3901238" y="2386809"/>
              <a:ext cx="4055100" cy="26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Highest discount</a:t>
              </a:r>
              <a:endParaRPr/>
            </a:p>
          </p:txBody>
        </p:sp>
      </p:grpSp>
      <p:grpSp>
        <p:nvGrpSpPr>
          <p:cNvPr id="190" name="Google Shape;190;g3f5f4e251c7_8_0"/>
          <p:cNvGrpSpPr/>
          <p:nvPr/>
        </p:nvGrpSpPr>
        <p:grpSpPr>
          <a:xfrm>
            <a:off x="4576577" y="2409225"/>
            <a:ext cx="3267734" cy="1252271"/>
            <a:chOff x="3093699" y="2280647"/>
            <a:chExt cx="4862700" cy="1112734"/>
          </a:xfrm>
        </p:grpSpPr>
        <p:sp>
          <p:nvSpPr>
            <p:cNvPr id="191" name="Google Shape;191;g3f5f4e251c7_8_0"/>
            <p:cNvSpPr txBox="1"/>
            <p:nvPr/>
          </p:nvSpPr>
          <p:spPr>
            <a:xfrm>
              <a:off x="3156087" y="2871081"/>
              <a:ext cx="4800300" cy="522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000"/>
                <a:buFont typeface="Merriweather"/>
                <a:buNone/>
              </a:pPr>
              <a:r>
                <a:rPr lang="en" sz="2800" b="0" i="0" u="none" strike="noStrike" cap="none">
                  <a:solidFill>
                    <a:srgbClr val="996F4A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23%</a:t>
              </a:r>
              <a:endParaRPr/>
            </a:p>
          </p:txBody>
        </p:sp>
        <p:sp>
          <p:nvSpPr>
            <p:cNvPr id="192" name="Google Shape;192;g3f5f4e251c7_8_0"/>
            <p:cNvSpPr txBox="1"/>
            <p:nvPr/>
          </p:nvSpPr>
          <p:spPr>
            <a:xfrm>
              <a:off x="3093699" y="2280647"/>
              <a:ext cx="4862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Quantity-weighted</a:t>
              </a:r>
              <a:endParaRPr sz="15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average discount</a:t>
              </a:r>
              <a:endParaRPr/>
            </a:p>
          </p:txBody>
        </p:sp>
      </p:grpSp>
      <p:grpSp>
        <p:nvGrpSpPr>
          <p:cNvPr id="193" name="Google Shape;193;g3f5f4e251c7_8_0"/>
          <p:cNvGrpSpPr/>
          <p:nvPr/>
        </p:nvGrpSpPr>
        <p:grpSpPr>
          <a:xfrm>
            <a:off x="4754532" y="3643970"/>
            <a:ext cx="2755017" cy="829253"/>
            <a:chOff x="2192609" y="3577342"/>
            <a:chExt cx="2755017" cy="829253"/>
          </a:xfrm>
        </p:grpSpPr>
        <p:sp>
          <p:nvSpPr>
            <p:cNvPr id="194" name="Google Shape;194;g3f5f4e251c7_8_0"/>
            <p:cNvSpPr txBox="1"/>
            <p:nvPr/>
          </p:nvSpPr>
          <p:spPr>
            <a:xfrm>
              <a:off x="2222426" y="3577342"/>
              <a:ext cx="27252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Time Period</a:t>
              </a:r>
              <a:endParaRPr/>
            </a:p>
          </p:txBody>
        </p:sp>
        <p:sp>
          <p:nvSpPr>
            <p:cNvPr id="195" name="Google Shape;195;g3f5f4e251c7_8_0"/>
            <p:cNvSpPr txBox="1"/>
            <p:nvPr/>
          </p:nvSpPr>
          <p:spPr>
            <a:xfrm>
              <a:off x="2192609" y="3879195"/>
              <a:ext cx="2725200" cy="52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000"/>
                <a:buFont typeface="Merriweather"/>
                <a:buNone/>
              </a:pPr>
              <a:r>
                <a:rPr lang="en" sz="2800" b="0" i="0" u="none" strike="noStrike" cap="none">
                  <a:solidFill>
                    <a:srgbClr val="004A75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437 </a:t>
              </a:r>
              <a:r>
                <a:rPr lang="en" sz="2000" b="0" i="0" u="none" strike="noStrike" cap="none">
                  <a:solidFill>
                    <a:srgbClr val="004A75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days</a:t>
              </a:r>
              <a:endParaRPr sz="2800" b="0" i="0" u="none" strike="noStrike" cap="none">
                <a:solidFill>
                  <a:srgbClr val="004A75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196" name="Google Shape;196;g3f5f4e251c7_8_0"/>
          <p:cNvGrpSpPr/>
          <p:nvPr/>
        </p:nvGrpSpPr>
        <p:grpSpPr>
          <a:xfrm>
            <a:off x="1424418" y="3462453"/>
            <a:ext cx="2783488" cy="1132675"/>
            <a:chOff x="3209414" y="3537867"/>
            <a:chExt cx="3547200" cy="1132675"/>
          </a:xfrm>
        </p:grpSpPr>
        <p:sp>
          <p:nvSpPr>
            <p:cNvPr id="197" name="Google Shape;197;g3f5f4e251c7_8_0"/>
            <p:cNvSpPr txBox="1"/>
            <p:nvPr/>
          </p:nvSpPr>
          <p:spPr>
            <a:xfrm>
              <a:off x="3209414" y="3537867"/>
              <a:ext cx="3547200" cy="2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DM Sans"/>
                <a:buNone/>
              </a:pPr>
              <a:r>
                <a:rPr lang="en" sz="1500" b="0" i="0" u="none" strike="noStrike" cap="none">
                  <a:solidFill>
                    <a:schemeClr val="dk1"/>
                  </a:solidFill>
                  <a:latin typeface="DM Sans"/>
                  <a:ea typeface="DM Sans"/>
                  <a:cs typeface="DM Sans"/>
                  <a:sym typeface="DM Sans"/>
                </a:rPr>
                <a:t>discounted Brands</a:t>
              </a:r>
              <a:endParaRPr/>
            </a:p>
          </p:txBody>
        </p:sp>
        <p:sp>
          <p:nvSpPr>
            <p:cNvPr id="198" name="Google Shape;198;g3f5f4e251c7_8_0"/>
            <p:cNvSpPr txBox="1"/>
            <p:nvPr/>
          </p:nvSpPr>
          <p:spPr>
            <a:xfrm>
              <a:off x="3209415" y="3879195"/>
              <a:ext cx="3547100" cy="7913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000"/>
                <a:buFont typeface="Merriweather"/>
                <a:buNone/>
              </a:pPr>
              <a:r>
                <a:rPr lang="en" sz="2800" b="0" i="0" u="none" strike="noStrike" cap="none" dirty="0">
                  <a:solidFill>
                    <a:srgbClr val="004A75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94%</a:t>
              </a:r>
              <a:endParaRPr dirty="0"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3000"/>
                <a:buFont typeface="Merriweather"/>
                <a:buNone/>
              </a:pPr>
              <a:r>
                <a:rPr lang="en" sz="1800" b="0" i="0" u="none" strike="noStrike" cap="none" dirty="0">
                  <a:solidFill>
                    <a:srgbClr val="004A75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(175 of 187 Brands)</a:t>
              </a:r>
              <a:endParaRPr dirty="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5f4e251c7_6_0"/>
          <p:cNvSpPr txBox="1">
            <a:spLocks noGrp="1"/>
          </p:cNvSpPr>
          <p:nvPr>
            <p:ph type="title"/>
          </p:nvPr>
        </p:nvSpPr>
        <p:spPr>
          <a:xfrm>
            <a:off x="1523853" y="859046"/>
            <a:ext cx="6096293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/>
              <a:t>Average Monthly Discount</a:t>
            </a:r>
            <a:endParaRPr sz="3200"/>
          </a:p>
        </p:txBody>
      </p:sp>
      <p:pic>
        <p:nvPicPr>
          <p:cNvPr id="210" name="Google Shape;210;g3f5f4e251c7_6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7551" y="1446746"/>
            <a:ext cx="6788896" cy="32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5ef696323_1_18"/>
          <p:cNvSpPr txBox="1">
            <a:spLocks noGrp="1"/>
          </p:cNvSpPr>
          <p:nvPr>
            <p:ph type="title"/>
          </p:nvPr>
        </p:nvSpPr>
        <p:spPr>
          <a:xfrm>
            <a:off x="276600" y="589650"/>
            <a:ext cx="8590800" cy="86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Monthly Revenue of completed Orders</a:t>
            </a:r>
            <a:endParaRPr/>
          </a:p>
        </p:txBody>
      </p:sp>
      <p:pic>
        <p:nvPicPr>
          <p:cNvPr id="216" name="Google Shape;216;g3f5ef696323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78839"/>
            <a:ext cx="6324126" cy="317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g3f5ef696323_1_18"/>
          <p:cNvSpPr txBox="1"/>
          <p:nvPr/>
        </p:nvSpPr>
        <p:spPr>
          <a:xfrm>
            <a:off x="6552900" y="1875539"/>
            <a:ext cx="2314500" cy="23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Revenue fluctuates significantly throughout the year.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November 2017 generated the highest monthly revenue (£1.52 million).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December also performed strongly (£990k).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March 2018 had the lowest revenue.</a:t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g3f5ee5fc38d_4_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88" y="483350"/>
            <a:ext cx="8083823" cy="41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5f4e251c7_4_0"/>
          <p:cNvSpPr txBox="1">
            <a:spLocks noGrp="1"/>
          </p:cNvSpPr>
          <p:nvPr>
            <p:ph type="title"/>
          </p:nvPr>
        </p:nvSpPr>
        <p:spPr>
          <a:xfrm>
            <a:off x="1523853" y="859046"/>
            <a:ext cx="6096293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/>
              <a:t>Monthly Revenue</a:t>
            </a:r>
            <a:endParaRPr sz="3200"/>
          </a:p>
        </p:txBody>
      </p:sp>
      <p:pic>
        <p:nvPicPr>
          <p:cNvPr id="228" name="Google Shape;228;g3f5f4e251c7_4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5737" y="1301127"/>
            <a:ext cx="6572523" cy="3200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f5f4e251c7_2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238" y="579671"/>
            <a:ext cx="7967524" cy="402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f5f4e251c7_2_47"/>
          <p:cNvSpPr txBox="1">
            <a:spLocks noGrp="1"/>
          </p:cNvSpPr>
          <p:nvPr>
            <p:ph type="title"/>
          </p:nvPr>
        </p:nvSpPr>
        <p:spPr>
          <a:xfrm>
            <a:off x="875872" y="714050"/>
            <a:ext cx="7392256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10 Most Sold Product Categories &amp; Its Revenue</a:t>
            </a:r>
            <a:endParaRPr sz="2400"/>
          </a:p>
        </p:txBody>
      </p:sp>
      <p:pic>
        <p:nvPicPr>
          <p:cNvPr id="239" name="Google Shape;239;g3f5f4e251c7_2_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4470" y="1301750"/>
            <a:ext cx="7075060" cy="3581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5f4e251c7_2_42"/>
          <p:cNvSpPr txBox="1">
            <a:spLocks noGrp="1"/>
          </p:cNvSpPr>
          <p:nvPr>
            <p:ph type="title"/>
          </p:nvPr>
        </p:nvSpPr>
        <p:spPr>
          <a:xfrm>
            <a:off x="875872" y="714050"/>
            <a:ext cx="7392256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10 Most Sold Product Categories &amp; Its Revenue</a:t>
            </a:r>
            <a:endParaRPr sz="2400"/>
          </a:p>
        </p:txBody>
      </p:sp>
      <p:pic>
        <p:nvPicPr>
          <p:cNvPr id="245" name="Google Shape;245;g3f5f4e251c7_2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19787" y="1348361"/>
            <a:ext cx="6904425" cy="3443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5f7b0e249_1_0"/>
          <p:cNvSpPr txBox="1">
            <a:spLocks noGrp="1"/>
          </p:cNvSpPr>
          <p:nvPr>
            <p:ph type="title"/>
          </p:nvPr>
        </p:nvSpPr>
        <p:spPr>
          <a:xfrm>
            <a:off x="812942" y="693502"/>
            <a:ext cx="7518115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400"/>
              <a:t>How do seasonality and special dates affect sales?</a:t>
            </a:r>
            <a:endParaRPr sz="2400"/>
          </a:p>
        </p:txBody>
      </p:sp>
      <p:pic>
        <p:nvPicPr>
          <p:cNvPr id="251" name="Google Shape;251;g3f5f7b0e249_1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1726" y="1279131"/>
            <a:ext cx="7240545" cy="3423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5ef696323_0_0"/>
          <p:cNvSpPr txBox="1">
            <a:spLocks noGrp="1"/>
          </p:cNvSpPr>
          <p:nvPr>
            <p:ph type="title"/>
          </p:nvPr>
        </p:nvSpPr>
        <p:spPr>
          <a:xfrm>
            <a:off x="1324800" y="669150"/>
            <a:ext cx="6494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Total Revenue by Sales Period</a:t>
            </a:r>
            <a:endParaRPr sz="3000"/>
          </a:p>
        </p:txBody>
      </p:sp>
      <p:pic>
        <p:nvPicPr>
          <p:cNvPr id="257" name="Google Shape;257;g3f5ef69632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2938" y="1256840"/>
            <a:ext cx="4700570" cy="3293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5ee5fc38d_4_128"/>
          <p:cNvSpPr txBox="1">
            <a:spLocks noGrp="1"/>
          </p:cNvSpPr>
          <p:nvPr>
            <p:ph type="title"/>
          </p:nvPr>
        </p:nvSpPr>
        <p:spPr>
          <a:xfrm>
            <a:off x="1711350" y="764601"/>
            <a:ext cx="5627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Conclusion</a:t>
            </a:r>
            <a:endParaRPr/>
          </a:p>
        </p:txBody>
      </p:sp>
      <p:grpSp>
        <p:nvGrpSpPr>
          <p:cNvPr id="263" name="Google Shape;263;g3f5ee5fc38d_4_128"/>
          <p:cNvGrpSpPr/>
          <p:nvPr/>
        </p:nvGrpSpPr>
        <p:grpSpPr>
          <a:xfrm>
            <a:off x="1677495" y="1356191"/>
            <a:ext cx="5789009" cy="3252698"/>
            <a:chOff x="6232" y="0"/>
            <a:chExt cx="5789009" cy="3252698"/>
          </a:xfrm>
        </p:grpSpPr>
        <p:sp>
          <p:nvSpPr>
            <p:cNvPr id="264" name="Google Shape;264;g3f5ee5fc38d_4_128"/>
            <p:cNvSpPr/>
            <p:nvPr/>
          </p:nvSpPr>
          <p:spPr>
            <a:xfrm>
              <a:off x="435110" y="0"/>
              <a:ext cx="4931252" cy="3252698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1EAE4"/>
            </a:solidFill>
            <a:ln>
              <a:noFill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g3f5ee5fc38d_4_128"/>
            <p:cNvSpPr/>
            <p:nvPr/>
          </p:nvSpPr>
          <p:spPr>
            <a:xfrm>
              <a:off x="6232" y="975809"/>
              <a:ext cx="1867349" cy="130107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DE1C9"/>
                </a:gs>
                <a:gs pos="35000">
                  <a:srgbClr val="FCEAD9"/>
                </a:gs>
                <a:gs pos="100000">
                  <a:srgbClr val="FFF5EE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g3f5ee5fc38d_4_128"/>
            <p:cNvSpPr txBox="1"/>
            <p:nvPr/>
          </p:nvSpPr>
          <p:spPr>
            <a:xfrm>
              <a:off x="69745" y="1039322"/>
              <a:ext cx="1740323" cy="11740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Discount Dependency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96% discounted products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not selective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g3f5ee5fc38d_4_128"/>
            <p:cNvSpPr/>
            <p:nvPr/>
          </p:nvSpPr>
          <p:spPr>
            <a:xfrm>
              <a:off x="1967062" y="975809"/>
              <a:ext cx="1867349" cy="130107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F0E2"/>
                </a:gs>
                <a:gs pos="35000">
                  <a:srgbClr val="FFF6E9"/>
                </a:gs>
                <a:gs pos="100000">
                  <a:srgbClr val="FEFAF7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g3f5ee5fc38d_4_128"/>
            <p:cNvSpPr txBox="1"/>
            <p:nvPr/>
          </p:nvSpPr>
          <p:spPr>
            <a:xfrm>
              <a:off x="2030575" y="1039322"/>
              <a:ext cx="1740323" cy="11740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Volume vs. Value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Orders </a:t>
              </a:r>
              <a:r>
                <a:rPr lang="en" sz="1200" b="0" i="0" u="none" strike="noStrike" cap="none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↑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Value (Revenue) </a:t>
              </a:r>
              <a:r>
                <a:rPr lang="en" sz="1200" b="0" i="0" u="none" strike="noStrike" cap="none">
                  <a:solidFill>
                    <a:schemeClr val="dk1"/>
                  </a:solidFill>
                  <a:latin typeface="Roboto Light"/>
                  <a:ea typeface="Roboto Light"/>
                  <a:cs typeface="Roboto Light"/>
                  <a:sym typeface="Roboto Light"/>
                </a:rPr>
                <a:t>≠↑</a:t>
              </a: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g3f5ee5fc38d_4_128"/>
            <p:cNvSpPr/>
            <p:nvPr/>
          </p:nvSpPr>
          <p:spPr>
            <a:xfrm>
              <a:off x="3927892" y="975809"/>
              <a:ext cx="1867349" cy="1301079"/>
            </a:xfrm>
            <a:prstGeom prst="roundRect">
              <a:avLst>
                <a:gd name="adj" fmla="val 16667"/>
              </a:avLst>
            </a:prstGeom>
            <a:gradFill>
              <a:gsLst>
                <a:gs pos="0">
                  <a:srgbClr val="FFA89D"/>
                </a:gs>
                <a:gs pos="35000">
                  <a:srgbClr val="FEC3BA"/>
                </a:gs>
                <a:gs pos="100000">
                  <a:srgbClr val="FFE7E3"/>
                </a:gs>
              </a:gsLst>
              <a:lin ang="16200000" scaled="0"/>
            </a:gradFill>
            <a:ln>
              <a:noFill/>
            </a:ln>
            <a:effectLst>
              <a:outerShdw blurRad="40000" dist="20000" dir="5400000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g3f5ee5fc38d_4_128"/>
            <p:cNvSpPr txBox="1"/>
            <p:nvPr/>
          </p:nvSpPr>
          <p:spPr>
            <a:xfrm>
              <a:off x="3991405" y="1039322"/>
              <a:ext cx="1740323" cy="11740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60950" rIns="60950" bIns="6095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" sz="16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Market Position</a:t>
              </a:r>
              <a:endPara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ctr" rtl="0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Risked long-term damage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ctr" rtl="0">
                <a:lnSpc>
                  <a:spcPct val="90000"/>
                </a:lnSpc>
                <a:spcBef>
                  <a:spcPts val="18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Char char="•"/>
              </a:pPr>
              <a:r>
                <a:rPr lang="en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Erosion of the brand’s quality-segment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g3f5ee5fc38d_4_128"/>
          <p:cNvSpPr txBox="1">
            <a:spLocks noGrp="1"/>
          </p:cNvSpPr>
          <p:nvPr>
            <p:ph type="subTitle" idx="1"/>
          </p:nvPr>
        </p:nvSpPr>
        <p:spPr>
          <a:xfrm>
            <a:off x="1581881" y="1578332"/>
            <a:ext cx="3734996" cy="498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lang="en" sz="1400" b="1">
                <a:solidFill>
                  <a:srgbClr val="000000"/>
                </a:solidFill>
              </a:rPr>
              <a:t>Current Discount Strategy ≠ Beneficial</a:t>
            </a:r>
            <a:endParaRPr sz="1400" b="1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5f7b0e249_3_0"/>
          <p:cNvSpPr txBox="1">
            <a:spLocks noGrp="1"/>
          </p:cNvSpPr>
          <p:nvPr>
            <p:ph type="title"/>
          </p:nvPr>
        </p:nvSpPr>
        <p:spPr>
          <a:xfrm>
            <a:off x="1711350" y="826245"/>
            <a:ext cx="5627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Recommendation</a:t>
            </a:r>
            <a:endParaRPr/>
          </a:p>
        </p:txBody>
      </p:sp>
      <p:grpSp>
        <p:nvGrpSpPr>
          <p:cNvPr id="277" name="Google Shape;277;g3f5f7b0e249_3_0"/>
          <p:cNvGrpSpPr/>
          <p:nvPr/>
        </p:nvGrpSpPr>
        <p:grpSpPr>
          <a:xfrm>
            <a:off x="1524000" y="1773451"/>
            <a:ext cx="6096000" cy="2772631"/>
            <a:chOff x="0" y="52530"/>
            <a:chExt cx="6096000" cy="2772631"/>
          </a:xfrm>
        </p:grpSpPr>
        <p:sp>
          <p:nvSpPr>
            <p:cNvPr id="278" name="Google Shape;278;g3f5f7b0e249_3_0"/>
            <p:cNvSpPr/>
            <p:nvPr/>
          </p:nvSpPr>
          <p:spPr>
            <a:xfrm>
              <a:off x="0" y="52530"/>
              <a:ext cx="6096000" cy="421200"/>
            </a:xfrm>
            <a:prstGeom prst="roundRect">
              <a:avLst>
                <a:gd name="adj" fmla="val 16667"/>
              </a:avLst>
            </a:prstGeom>
            <a:solidFill>
              <a:srgbClr val="002C4A">
                <a:alpha val="90196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g3f5f7b0e249_3_0"/>
            <p:cNvSpPr txBox="1"/>
            <p:nvPr/>
          </p:nvSpPr>
          <p:spPr>
            <a:xfrm>
              <a:off x="20561" y="73091"/>
              <a:ext cx="6054878" cy="38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Targeted Approach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f5f7b0e249_3_0"/>
            <p:cNvSpPr/>
            <p:nvPr/>
          </p:nvSpPr>
          <p:spPr>
            <a:xfrm>
              <a:off x="0" y="473730"/>
              <a:ext cx="6096000" cy="91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g3f5f7b0e249_3_0"/>
            <p:cNvSpPr txBox="1"/>
            <p:nvPr/>
          </p:nvSpPr>
          <p:spPr>
            <a:xfrm>
              <a:off x="0" y="473730"/>
              <a:ext cx="6096000" cy="9128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525" tIns="22850" rIns="128000" bIns="228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 differentiation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:↑ Discount ↓ Price products ↑ Quantity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Sweet Spot Range 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(11-20%) discount rate 🡪 volume ↑, revenue ↑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Brand Protection</a:t>
              </a: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114300" marR="0" lvl="1" indent="-114300" algn="l" rtl="0">
                <a:lnSpc>
                  <a:spcPct val="90000"/>
                </a:lnSpc>
                <a:spcBef>
                  <a:spcPts val="28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5% </a:t>
              </a:r>
              <a:r>
                <a:rPr lang="en"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newsletter </a:t>
              </a: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incentive for new users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g3f5f7b0e249_3_0"/>
            <p:cNvSpPr/>
            <p:nvPr/>
          </p:nvSpPr>
          <p:spPr>
            <a:xfrm>
              <a:off x="0" y="1386600"/>
              <a:ext cx="6096000" cy="421200"/>
            </a:xfrm>
            <a:prstGeom prst="roundRect">
              <a:avLst>
                <a:gd name="adj" fmla="val 16667"/>
              </a:avLst>
            </a:prstGeom>
            <a:solidFill>
              <a:srgbClr val="002C4A">
                <a:alpha val="70196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g3f5f7b0e249_3_0"/>
            <p:cNvSpPr txBox="1"/>
            <p:nvPr/>
          </p:nvSpPr>
          <p:spPr>
            <a:xfrm>
              <a:off x="20561" y="1407161"/>
              <a:ext cx="6054878" cy="38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Tiered Pricing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g3f5f7b0e249_3_0"/>
            <p:cNvSpPr/>
            <p:nvPr/>
          </p:nvSpPr>
          <p:spPr>
            <a:xfrm>
              <a:off x="0" y="1807801"/>
              <a:ext cx="6096000" cy="298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g3f5f7b0e249_3_0"/>
            <p:cNvSpPr txBox="1"/>
            <p:nvPr/>
          </p:nvSpPr>
          <p:spPr>
            <a:xfrm>
              <a:off x="0" y="1807801"/>
              <a:ext cx="6096000" cy="298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525" tIns="22850" rIns="128000" bIns="228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Spent 300 €, Save 15 €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g3f5f7b0e249_3_0"/>
            <p:cNvSpPr/>
            <p:nvPr/>
          </p:nvSpPr>
          <p:spPr>
            <a:xfrm>
              <a:off x="0" y="2105881"/>
              <a:ext cx="6096000" cy="421200"/>
            </a:xfrm>
            <a:prstGeom prst="roundRect">
              <a:avLst>
                <a:gd name="adj" fmla="val 16667"/>
              </a:avLst>
            </a:prstGeom>
            <a:solidFill>
              <a:srgbClr val="002C4A">
                <a:alpha val="50196"/>
              </a:srgbClr>
            </a:solidFill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87;g3f5f7b0e249_3_0"/>
            <p:cNvSpPr txBox="1"/>
            <p:nvPr/>
          </p:nvSpPr>
          <p:spPr>
            <a:xfrm>
              <a:off x="20561" y="2126442"/>
              <a:ext cx="6054878" cy="380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8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Holiday Timing</a:t>
              </a: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g3f5f7b0e249_3_0"/>
            <p:cNvSpPr/>
            <p:nvPr/>
          </p:nvSpPr>
          <p:spPr>
            <a:xfrm>
              <a:off x="0" y="2527081"/>
              <a:ext cx="6096000" cy="298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g3f5f7b0e249_3_0"/>
            <p:cNvSpPr txBox="1"/>
            <p:nvPr/>
          </p:nvSpPr>
          <p:spPr>
            <a:xfrm>
              <a:off x="0" y="2527081"/>
              <a:ext cx="6096000" cy="298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93525" tIns="22850" rIns="128000" bIns="22850" anchor="t" anchorCtr="0">
              <a:noAutofit/>
            </a:bodyPr>
            <a:lstStyle/>
            <a:p>
              <a:pPr marL="114300" marR="0" lvl="1" indent="-11430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Char char="•"/>
              </a:pPr>
              <a:r>
                <a:rPr lang="en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Promotional efforts </a:t>
              </a:r>
              <a:r>
                <a:rPr lang="en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Wingdings" panose="05000000000000000000" pitchFamily="2" charset="2"/>
                </a:rPr>
                <a:t></a:t>
              </a:r>
              <a:r>
                <a:rPr lang="en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highest conversion lift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5f7b0e249_5_0"/>
          <p:cNvSpPr txBox="1">
            <a:spLocks noGrp="1"/>
          </p:cNvSpPr>
          <p:nvPr>
            <p:ph type="title"/>
          </p:nvPr>
        </p:nvSpPr>
        <p:spPr>
          <a:xfrm>
            <a:off x="779764" y="1247462"/>
            <a:ext cx="7584471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For a better analysis</a:t>
            </a:r>
            <a:endParaRPr/>
          </a:p>
        </p:txBody>
      </p:sp>
      <p:sp>
        <p:nvSpPr>
          <p:cNvPr id="295" name="Google Shape;295;g3f5f7b0e249_5_0"/>
          <p:cNvSpPr txBox="1">
            <a:spLocks noGrp="1"/>
          </p:cNvSpPr>
          <p:nvPr>
            <p:ph type="subTitle" idx="1"/>
          </p:nvPr>
        </p:nvSpPr>
        <p:spPr>
          <a:xfrm>
            <a:off x="1529644" y="1948740"/>
            <a:ext cx="6084710" cy="25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27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r>
              <a:rPr lang="en" sz="1600">
                <a:solidFill>
                  <a:srgbClr val="000000"/>
                </a:solidFill>
              </a:rPr>
              <a:t>Data needed:</a:t>
            </a:r>
            <a:endParaRPr/>
          </a:p>
          <a:p>
            <a:pPr marL="1270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None/>
            </a:pP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Revenue before the discount period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Customer satisfaction before and after the discount period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Delivery costs</a:t>
            </a:r>
            <a:endParaRPr sz="1600">
              <a:solidFill>
                <a:srgbClr val="000000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Missing price data</a:t>
            </a:r>
            <a:endParaRPr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</a:pPr>
            <a:r>
              <a:rPr lang="en" sz="1600">
                <a:solidFill>
                  <a:srgbClr val="000000"/>
                </a:solidFill>
              </a:rPr>
              <a:t>Fix categories of products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453626d0f_1_0"/>
          <p:cNvSpPr txBox="1">
            <a:spLocks noGrp="1"/>
          </p:cNvSpPr>
          <p:nvPr>
            <p:ph type="title"/>
          </p:nvPr>
        </p:nvSpPr>
        <p:spPr>
          <a:xfrm>
            <a:off x="1710675" y="1507978"/>
            <a:ext cx="56274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Thank you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Question?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On-screen Show (16:9)</PresentationFormat>
  <Paragraphs>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Merriweather</vt:lpstr>
      <vt:lpstr>Roboto Light</vt:lpstr>
      <vt:lpstr>Newsreader</vt:lpstr>
      <vt:lpstr>Roboto</vt:lpstr>
      <vt:lpstr>DM Sans Light</vt:lpstr>
      <vt:lpstr>DM Sans</vt:lpstr>
      <vt:lpstr>Arial</vt:lpstr>
      <vt:lpstr>Paradigm</vt:lpstr>
      <vt:lpstr>Paradigm</vt:lpstr>
      <vt:lpstr>Analysis of Eniac’s Discount Strategy</vt:lpstr>
      <vt:lpstr>Eniac’s Debate</vt:lpstr>
      <vt:lpstr>Discounts’ Analysis</vt:lpstr>
      <vt:lpstr>Average Monthly Discount</vt:lpstr>
      <vt:lpstr>Monthly Revenue of completed Orders</vt:lpstr>
      <vt:lpstr>PowerPoint Presentation</vt:lpstr>
      <vt:lpstr>Monthly Revenue</vt:lpstr>
      <vt:lpstr>PowerPoint Presentation</vt:lpstr>
      <vt:lpstr>10 Most Sold Product Categories &amp; Its Revenue</vt:lpstr>
      <vt:lpstr>10 Most Sold Product Categories &amp; Its Revenue</vt:lpstr>
      <vt:lpstr>How do seasonality and special dates affect sales?</vt:lpstr>
      <vt:lpstr>Total Revenue by Sales Period</vt:lpstr>
      <vt:lpstr>Conclusion</vt:lpstr>
      <vt:lpstr>Recommendation</vt:lpstr>
      <vt:lpstr>For a better analysis</vt:lpstr>
      <vt:lpstr>Thank you  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Ryan Kartiko</cp:lastModifiedBy>
  <cp:revision>4</cp:revision>
  <dcterms:modified xsi:type="dcterms:W3CDTF">2026-07-30T14:33:56Z</dcterms:modified>
</cp:coreProperties>
</file>